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Fonetika Mono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06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1024219"/>
            <a:ext cx="14591456" cy="308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99"/>
              </a:lnSpc>
            </a:pPr>
            <a:r>
              <a:rPr lang="en-US" sz="24999" b="1" spc="-1249">
                <a:solidFill>
                  <a:srgbClr val="B52222"/>
                </a:solidFill>
                <a:latin typeface="Fonetika Mono Bold"/>
                <a:ea typeface="Fonetika Mono Bold"/>
                <a:cs typeface="Fonetika Mono Bold"/>
                <a:sym typeface="Fonetika Mono Bold"/>
              </a:rPr>
              <a:t>ISTANBUL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072971" y="5906055"/>
            <a:ext cx="15186329" cy="4399995"/>
            <a:chOff x="0" y="0"/>
            <a:chExt cx="3870476" cy="11214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70476" cy="1121408"/>
            </a:xfrm>
            <a:custGeom>
              <a:avLst/>
              <a:gdLst/>
              <a:ahLst/>
              <a:cxnLst/>
              <a:rect l="l" t="t" r="r" b="b"/>
              <a:pathLst>
                <a:path w="3870476" h="1121408">
                  <a:moveTo>
                    <a:pt x="0" y="0"/>
                  </a:moveTo>
                  <a:lnTo>
                    <a:pt x="3870476" y="0"/>
                  </a:lnTo>
                  <a:lnTo>
                    <a:pt x="3870476" y="1121408"/>
                  </a:lnTo>
                  <a:lnTo>
                    <a:pt x="0" y="1121408"/>
                  </a:lnTo>
                  <a:close/>
                </a:path>
              </a:pathLst>
            </a:custGeom>
            <a:solidFill>
              <a:srgbClr val="B5222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70476" cy="115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72971" y="2210100"/>
            <a:ext cx="15186329" cy="8500264"/>
          </a:xfrm>
          <a:custGeom>
            <a:avLst/>
            <a:gdLst/>
            <a:ahLst/>
            <a:cxnLst/>
            <a:rect l="l" t="t" r="r" b="b"/>
            <a:pathLst>
              <a:path w="15186329" h="8500264">
                <a:moveTo>
                  <a:pt x="0" y="0"/>
                </a:moveTo>
                <a:lnTo>
                  <a:pt x="15186329" y="0"/>
                </a:lnTo>
                <a:lnTo>
                  <a:pt x="15186329" y="8500263"/>
                </a:lnTo>
                <a:lnTo>
                  <a:pt x="0" y="8500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63" t="-1011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0509545" y="4543693"/>
            <a:ext cx="5284292" cy="928987"/>
            <a:chOff x="0" y="0"/>
            <a:chExt cx="1391748" cy="2446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1748" cy="244671"/>
            </a:xfrm>
            <a:custGeom>
              <a:avLst/>
              <a:gdLst/>
              <a:ahLst/>
              <a:cxnLst/>
              <a:rect l="l" t="t" r="r" b="b"/>
              <a:pathLst>
                <a:path w="1391748" h="244671">
                  <a:moveTo>
                    <a:pt x="0" y="0"/>
                  </a:moveTo>
                  <a:lnTo>
                    <a:pt x="1391748" y="0"/>
                  </a:lnTo>
                  <a:lnTo>
                    <a:pt x="1391748" y="244671"/>
                  </a:lnTo>
                  <a:lnTo>
                    <a:pt x="0" y="244671"/>
                  </a:lnTo>
                  <a:close/>
                </a:path>
              </a:pathLst>
            </a:custGeom>
            <a:solidFill>
              <a:srgbClr val="21232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91748" cy="292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GHADEER ABDULLA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674" y="883451"/>
            <a:ext cx="16341059" cy="163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62"/>
              </a:lnSpc>
            </a:pPr>
            <a:r>
              <a:rPr lang="en-US" sz="13180" b="1" spc="-659">
                <a:solidFill>
                  <a:srgbClr val="B52222"/>
                </a:solidFill>
                <a:latin typeface="Fonetika Mono Bold"/>
                <a:ea typeface="Fonetika Mono Bold"/>
                <a:cs typeface="Fonetika Mono Bold"/>
                <a:sym typeface="Fonetika Mono Bold"/>
              </a:rPr>
              <a:t>PROBLEM STATMENT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27073" y="6491667"/>
            <a:ext cx="5638873" cy="3227590"/>
            <a:chOff x="0" y="0"/>
            <a:chExt cx="1184805" cy="6781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84805" cy="678161"/>
            </a:xfrm>
            <a:custGeom>
              <a:avLst/>
              <a:gdLst/>
              <a:ahLst/>
              <a:cxnLst/>
              <a:rect l="l" t="t" r="r" b="b"/>
              <a:pathLst>
                <a:path w="1184805" h="678161">
                  <a:moveTo>
                    <a:pt x="0" y="0"/>
                  </a:moveTo>
                  <a:lnTo>
                    <a:pt x="1184805" y="0"/>
                  </a:lnTo>
                  <a:lnTo>
                    <a:pt x="1184805" y="678161"/>
                  </a:lnTo>
                  <a:lnTo>
                    <a:pt x="0" y="678161"/>
                  </a:lnTo>
                  <a:close/>
                </a:path>
              </a:pathLst>
            </a:custGeom>
            <a:blipFill>
              <a:blip r:embed="rId2"/>
              <a:stretch>
                <a:fillRect t="-8090" b="-809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8687" y="3456368"/>
            <a:ext cx="16730626" cy="306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Airbnb market in Istanbul, comprising 26,631 listings with prices ranging from $12 to $1,706,000, exhibits extreme price variation across four room types (Entire home/apt, Private room, Hotel room, Shared room). These types differ in terms of price, reviews, ratings, and accommodation capacity, creating an information gap for hosts and guests regarding pricing decisions.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90473" y="942269"/>
            <a:ext cx="11630149" cy="464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13200" b="1" spc="-660" dirty="0">
                <a:solidFill>
                  <a:srgbClr val="B52222"/>
                </a:solidFill>
                <a:latin typeface="Fonetika Mono Bold"/>
                <a:ea typeface="Fonetika Mono Bold"/>
                <a:cs typeface="Fonetika Mono Bold"/>
                <a:sym typeface="Fonetika Mono Bold"/>
              </a:rPr>
              <a:t>OBJECTIVES</a:t>
            </a:r>
          </a:p>
          <a:p>
            <a:pPr algn="l">
              <a:lnSpc>
                <a:spcPts val="11880"/>
              </a:lnSpc>
            </a:pPr>
            <a:endParaRPr lang="en-US" sz="13200" b="1" spc="-660" dirty="0">
              <a:solidFill>
                <a:srgbClr val="B52222"/>
              </a:solidFill>
              <a:latin typeface="Fonetika Mono Bold"/>
              <a:ea typeface="Fonetika Mono Bold"/>
              <a:cs typeface="Fonetika Mono Bold"/>
              <a:sym typeface="Fonetika Mono Bold"/>
            </a:endParaRPr>
          </a:p>
          <a:p>
            <a:pPr algn="l">
              <a:lnSpc>
                <a:spcPts val="11880"/>
              </a:lnSpc>
            </a:pPr>
            <a:endParaRPr lang="en-US" sz="13200" b="1" spc="-660" dirty="0">
              <a:solidFill>
                <a:srgbClr val="B52222"/>
              </a:solidFill>
              <a:latin typeface="Fonetika Mono Bold"/>
              <a:ea typeface="Fonetika Mono Bold"/>
              <a:cs typeface="Fonetika Mono Bold"/>
              <a:sym typeface="Fonetika Mon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013004"/>
            <a:ext cx="13757436" cy="1671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3176" b="1">
                <a:solidFill>
                  <a:srgbClr val="2123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analyzing 26,631 Airbnb listings in Istanbul:</a:t>
            </a:r>
          </a:p>
          <a:p>
            <a:pPr algn="l">
              <a:lnSpc>
                <a:spcPts val="4447"/>
              </a:lnSpc>
            </a:pPr>
            <a:endParaRPr lang="en-US" sz="3176" b="1">
              <a:solidFill>
                <a:srgbClr val="21232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447"/>
              </a:lnSpc>
            </a:pPr>
            <a:endParaRPr lang="en-US" sz="3176" b="1">
              <a:solidFill>
                <a:srgbClr val="21232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902876"/>
            <a:ext cx="16977759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 differences in price across the four room types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 differences in reviews and ratings across the four room types.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how accommodation capacity varies by room type.</a:t>
            </a:r>
          </a:p>
          <a:p>
            <a:pPr algn="l">
              <a:lnSpc>
                <a:spcPts val="3920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87A43-9155-14C5-5CD4-5A6A7162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870106"/>
            <a:ext cx="10796100" cy="3921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0473" y="894010"/>
            <a:ext cx="16853746" cy="163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52"/>
              </a:lnSpc>
            </a:pPr>
            <a:r>
              <a:rPr lang="en-US" sz="13169" b="1" spc="-658">
                <a:solidFill>
                  <a:srgbClr val="B52222"/>
                </a:solidFill>
                <a:latin typeface="Fonetika Mono Bold"/>
                <a:ea typeface="Fonetika Mono Bold"/>
                <a:cs typeface="Fonetika Mono Bold"/>
                <a:sym typeface="Fonetika Mono Bold"/>
              </a:rPr>
              <a:t>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2841141"/>
            <a:ext cx="8112374" cy="6551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4883" lvl="1" indent="-337441" algn="l">
              <a:lnSpc>
                <a:spcPts val="4376"/>
              </a:lnSpc>
              <a:buFont typeface="Arial"/>
              <a:buChar char="•"/>
            </a:pPr>
            <a:r>
              <a:rPr lang="en-US" sz="3125" dirty="0">
                <a:solidFill>
                  <a:srgbClr val="212327"/>
                </a:solidFill>
                <a:latin typeface="Canva Sans"/>
                <a:ea typeface="Canva Sans"/>
                <a:cs typeface="Canva Sans"/>
                <a:sym typeface="Canva Sans"/>
              </a:rPr>
              <a:t>Guests should compare room types based on capacity,    reviews, and ratings.</a:t>
            </a:r>
          </a:p>
          <a:p>
            <a:pPr algn="l">
              <a:lnSpc>
                <a:spcPts val="4376"/>
              </a:lnSpc>
            </a:pPr>
            <a:endParaRPr lang="en-US" sz="3125" dirty="0">
              <a:solidFill>
                <a:srgbClr val="21232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74883" lvl="1" indent="-337441" algn="l">
              <a:lnSpc>
                <a:spcPts val="4376"/>
              </a:lnSpc>
              <a:buFont typeface="Arial"/>
              <a:buChar char="•"/>
            </a:pPr>
            <a:r>
              <a:rPr lang="en-US" sz="3125" dirty="0">
                <a:solidFill>
                  <a:srgbClr val="212327"/>
                </a:solidFill>
                <a:latin typeface="Canva Sans"/>
                <a:ea typeface="Canva Sans"/>
                <a:cs typeface="Canva Sans"/>
                <a:sym typeface="Canva Sans"/>
              </a:rPr>
              <a:t>Hosts should improve listing quality through photos and detailed descriptions to attract more bookings</a:t>
            </a:r>
          </a:p>
          <a:p>
            <a:pPr algn="l">
              <a:lnSpc>
                <a:spcPts val="4376"/>
              </a:lnSpc>
            </a:pPr>
            <a:endParaRPr lang="en-US" sz="3125" dirty="0">
              <a:solidFill>
                <a:srgbClr val="21232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74883" lvl="1" indent="-337441" algn="l">
              <a:lnSpc>
                <a:spcPts val="4376"/>
              </a:lnSpc>
              <a:buFont typeface="Arial"/>
              <a:buChar char="•"/>
            </a:pPr>
            <a:r>
              <a:rPr lang="en-US" sz="3125" dirty="0">
                <a:solidFill>
                  <a:srgbClr val="212327"/>
                </a:solidFill>
                <a:latin typeface="Canva Sans"/>
                <a:ea typeface="Canva Sans"/>
                <a:cs typeface="Canva Sans"/>
                <a:sym typeface="Canva Sans"/>
              </a:rPr>
              <a:t>Hosts should clearly identify the room type and included facilities and features.</a:t>
            </a:r>
          </a:p>
          <a:p>
            <a:pPr algn="l">
              <a:lnSpc>
                <a:spcPts val="4376"/>
              </a:lnSpc>
            </a:pPr>
            <a:endParaRPr lang="en-US" sz="3125" dirty="0">
              <a:solidFill>
                <a:srgbClr val="21232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C2683-16CF-76EC-207E-BA750AEF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346" y="2852027"/>
            <a:ext cx="8752114" cy="6188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19" y="3165063"/>
            <a:ext cx="17100962" cy="564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ct val="10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missing values in some columns</a:t>
            </a:r>
            <a:r>
              <a:rPr lang="en-GB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GB" sz="3200" dirty="0">
                <a:latin typeface="Canva Sans" panose="020B0604020202020204" charset="0"/>
              </a:rPr>
              <a:t>from 10% to 100%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 only covers one year (2026), so results may not apply to any other time periods.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columns is in USD while others is in Lira, complicating direct price comparisons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228600" y="393794"/>
            <a:ext cx="11315700" cy="22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480"/>
              </a:lnSpc>
              <a:spcBef>
                <a:spcPct val="0"/>
              </a:spcBef>
            </a:pPr>
            <a:r>
              <a:rPr lang="en-US" sz="13200" b="1" spc="-660" dirty="0">
                <a:solidFill>
                  <a:srgbClr val="B52222"/>
                </a:solidFill>
                <a:latin typeface="Fonetika Mono Bold"/>
                <a:ea typeface="Fonetika Mono Bold"/>
                <a:cs typeface="Fonetika Mono Bold"/>
                <a:sym typeface="Fonetika Mono Bold"/>
              </a:rPr>
              <a:t>LIMITATION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204</Words>
  <Application>Microsoft Office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Fonetika Mono Bold</vt:lpstr>
      <vt:lpstr>Calibri</vt:lpstr>
      <vt:lpstr>Canva Sans Bold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White and Blue Modern Typographic Istanbul Travel Presentation</dc:title>
  <dc:creator>HP</dc:creator>
  <cp:lastModifiedBy>GHADEER ABDULLA JAAFAR ALASFOOR</cp:lastModifiedBy>
  <cp:revision>4</cp:revision>
  <dcterms:created xsi:type="dcterms:W3CDTF">2006-08-16T00:00:00Z</dcterms:created>
  <dcterms:modified xsi:type="dcterms:W3CDTF">2026-09-13T13:46:51Z</dcterms:modified>
  <dc:identifier>DAHUoL4JFtU</dc:identifier>
</cp:coreProperties>
</file>